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52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39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065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1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280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36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13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96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67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30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304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260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5084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206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493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5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283D5-6CAA-4552-AC41-EA9ECE25CEB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ADFDADE-99C0-48CE-9A35-62775246C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96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25D423-1B84-4D42-A526-0E277D3A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Software?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253F00-58BD-464E-846D-C79DABCB2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5737"/>
            <a:ext cx="8596668" cy="4425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Software is a set of instructions (programs) that tell a computer how to perform specific tasks. It is intangible, meaning you cannot touch it like hardware.</a:t>
            </a:r>
          </a:p>
          <a:p>
            <a:pPr marL="0" indent="0">
              <a:buNone/>
            </a:pPr>
            <a:r>
              <a:rPr lang="en-US" b="1" dirty="0"/>
              <a:t>Types of Software</a:t>
            </a:r>
          </a:p>
          <a:p>
            <a:pPr marL="0" indent="0">
              <a:buNone/>
            </a:pPr>
            <a:r>
              <a:rPr lang="en-US" dirty="0"/>
              <a:t>Software is mainly divided into </a:t>
            </a:r>
            <a:r>
              <a:rPr lang="en-US" b="1" dirty="0"/>
              <a:t>two categories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1. System Software</a:t>
            </a:r>
          </a:p>
          <a:p>
            <a:pPr lvl="1"/>
            <a:r>
              <a:rPr lang="en-US" dirty="0"/>
              <a:t>This software manages and controls computer hardware so that application software can function.</a:t>
            </a:r>
          </a:p>
          <a:p>
            <a:pPr lvl="1"/>
            <a:r>
              <a:rPr lang="en-US" dirty="0"/>
              <a:t>It acts as a bridge between the hardware and user.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Operating System (e.g., Windows, Linux)</a:t>
            </a:r>
          </a:p>
          <a:p>
            <a:pPr lvl="1"/>
            <a:r>
              <a:rPr lang="en-US" dirty="0"/>
              <a:t>Device Drivers (e.g., printer driver)</a:t>
            </a:r>
          </a:p>
          <a:p>
            <a:pPr lvl="1"/>
            <a:r>
              <a:rPr lang="en-US" dirty="0"/>
              <a:t>Utility Programs (e.g., antivirus, disk cleanup)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331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D1C-1452-414F-846E-B1A2416BA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062"/>
            <a:ext cx="8596668" cy="292963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Application Software</a:t>
            </a:r>
          </a:p>
          <a:p>
            <a:pPr marL="0" indent="0">
              <a:buNone/>
            </a:pPr>
            <a:r>
              <a:rPr lang="en-US" dirty="0"/>
              <a:t>This software is used to perform specific tasks for the user.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MS Word (word processing)</a:t>
            </a:r>
          </a:p>
          <a:p>
            <a:pPr lvl="1"/>
            <a:r>
              <a:rPr lang="en-US" dirty="0"/>
              <a:t>Excel (spreadsheets)</a:t>
            </a:r>
          </a:p>
          <a:p>
            <a:pPr lvl="1"/>
            <a:r>
              <a:rPr lang="en-US" dirty="0"/>
              <a:t>Chrome (web browsing)</a:t>
            </a:r>
          </a:p>
          <a:p>
            <a:pPr lvl="1"/>
            <a:r>
              <a:rPr lang="en-US" dirty="0"/>
              <a:t>Tally (accounting)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54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D793-D3B7-4D28-8440-22091F0DD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1026851"/>
            <a:ext cx="8596668" cy="784194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Utility Software</a:t>
            </a:r>
            <a:b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55BA26-EFAE-46E9-A781-7FDDAE449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981140"/>
              </p:ext>
            </p:extLst>
          </p:nvPr>
        </p:nvGraphicFramePr>
        <p:xfrm>
          <a:off x="677863" y="2201662"/>
          <a:ext cx="8596311" cy="3393166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82203991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5362672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093128004"/>
                    </a:ext>
                  </a:extLst>
                </a:gridCol>
              </a:tblGrid>
              <a:tr h="454754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110752"/>
                  </a:ext>
                </a:extLst>
              </a:tr>
              <a:tr h="734603">
                <a:tc>
                  <a:txBody>
                    <a:bodyPr/>
                    <a:lstStyle/>
                    <a:p>
                      <a:r>
                        <a:rPr lang="en-IN" b="1" dirty="0"/>
                        <a:t>Freeware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 to use but source code is not 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VLC, Skype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478"/>
                  </a:ext>
                </a:extLst>
              </a:tr>
              <a:tr h="734603">
                <a:tc>
                  <a:txBody>
                    <a:bodyPr/>
                    <a:lstStyle/>
                    <a:p>
                      <a:r>
                        <a:rPr lang="en-IN" b="1"/>
                        <a:t>Shareware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 for a limited trial period, paid later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WinRAR, IDM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00624"/>
                  </a:ext>
                </a:extLst>
              </a:tr>
              <a:tr h="734603">
                <a:tc>
                  <a:txBody>
                    <a:bodyPr/>
                    <a:lstStyle/>
                    <a:p>
                      <a:r>
                        <a:rPr lang="en-IN" b="1"/>
                        <a:t>Open-source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Free to use and modify the source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Linux, LibreOffice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0473"/>
                  </a:ext>
                </a:extLst>
              </a:tr>
              <a:tr h="734603">
                <a:tc>
                  <a:txBody>
                    <a:bodyPr/>
                    <a:lstStyle/>
                    <a:p>
                      <a:r>
                        <a:rPr lang="en-IN" b="1"/>
                        <a:t>Proprietary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Paid software, cannot be modified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MS Office, Adobe Photoshop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13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AA4DEB6-CCCA-45D3-ACBB-E3C865C2E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68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0D50-23D8-40F3-ABFA-AEDB9B65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55" y="1204403"/>
            <a:ext cx="8596668" cy="890726"/>
          </a:xfrm>
        </p:spPr>
        <p:txBody>
          <a:bodyPr/>
          <a:lstStyle/>
          <a:p>
            <a:r>
              <a:rPr lang="en-US" b="1" dirty="0"/>
              <a:t>What are Mobile Apps?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CFEBB-3D18-4A24-9474-D8FBC31B5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55" y="2254928"/>
            <a:ext cx="8596668" cy="1802167"/>
          </a:xfrm>
        </p:spPr>
        <p:txBody>
          <a:bodyPr/>
          <a:lstStyle/>
          <a:p>
            <a:r>
              <a:rPr lang="en-US" b="1" dirty="0"/>
              <a:t>Mobile apps (Mobile Applications)</a:t>
            </a:r>
            <a:r>
              <a:rPr lang="en-US" dirty="0"/>
              <a:t> are software programs specifically designed to run on </a:t>
            </a:r>
            <a:r>
              <a:rPr lang="en-US" b="1" dirty="0"/>
              <a:t>smartphones, tablets</a:t>
            </a:r>
            <a:r>
              <a:rPr lang="en-US" dirty="0"/>
              <a:t>, and other mobile devices.</a:t>
            </a:r>
          </a:p>
          <a:p>
            <a:r>
              <a:rPr lang="en-US" dirty="0"/>
              <a:t>They allow users to perform various tasks such as chatting, playing games, watching videos, shopping, managing accounts, and more.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37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88DB-7453-43E8-9888-12D3B52F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Based on Technology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CF4CF9-DC63-4644-A738-F5D21C67D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216222"/>
              </p:ext>
            </p:extLst>
          </p:nvPr>
        </p:nvGraphicFramePr>
        <p:xfrm>
          <a:off x="677334" y="1737360"/>
          <a:ext cx="8596311" cy="2865120"/>
        </p:xfrm>
        <a:graphic>
          <a:graphicData uri="http://schemas.openxmlformats.org/drawingml/2006/table">
            <a:tbl>
              <a:tblPr/>
              <a:tblGrid>
                <a:gridCol w="1932701">
                  <a:extLst>
                    <a:ext uri="{9D8B030D-6E8A-4147-A177-3AD203B41FA5}">
                      <a16:colId xmlns:a16="http://schemas.microsoft.com/office/drawing/2014/main" val="37191409"/>
                    </a:ext>
                  </a:extLst>
                </a:gridCol>
                <a:gridCol w="3798173">
                  <a:extLst>
                    <a:ext uri="{9D8B030D-6E8A-4147-A177-3AD203B41FA5}">
                      <a16:colId xmlns:a16="http://schemas.microsoft.com/office/drawing/2014/main" val="422991885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725214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26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Native Apps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Developed for a specific mobile operating system (Android or iOS).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WhatsApp (Android), Safari (iOS)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277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Web Apps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Accessed through a mobile browser, do not require installation.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Flipkart website, Gmail Web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478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Hybrid Apps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Combination of native and web apps. Built using web technologies but work like native apps.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Instagram, Uber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222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15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9E3FED-94D7-48D3-BAC6-31B0EA40D7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801907"/>
              </p:ext>
            </p:extLst>
          </p:nvPr>
        </p:nvGraphicFramePr>
        <p:xfrm>
          <a:off x="710214" y="177554"/>
          <a:ext cx="9144000" cy="6196737"/>
        </p:xfrm>
        <a:graphic>
          <a:graphicData uri="http://schemas.openxmlformats.org/drawingml/2006/table">
            <a:tbl>
              <a:tblPr/>
              <a:tblGrid>
                <a:gridCol w="838122">
                  <a:extLst>
                    <a:ext uri="{9D8B030D-6E8A-4147-A177-3AD203B41FA5}">
                      <a16:colId xmlns:a16="http://schemas.microsoft.com/office/drawing/2014/main" val="4054368318"/>
                    </a:ext>
                  </a:extLst>
                </a:gridCol>
                <a:gridCol w="1695077">
                  <a:extLst>
                    <a:ext uri="{9D8B030D-6E8A-4147-A177-3AD203B41FA5}">
                      <a16:colId xmlns:a16="http://schemas.microsoft.com/office/drawing/2014/main" val="1978244174"/>
                    </a:ext>
                  </a:extLst>
                </a:gridCol>
                <a:gridCol w="1996424">
                  <a:extLst>
                    <a:ext uri="{9D8B030D-6E8A-4147-A177-3AD203B41FA5}">
                      <a16:colId xmlns:a16="http://schemas.microsoft.com/office/drawing/2014/main" val="3057641039"/>
                    </a:ext>
                  </a:extLst>
                </a:gridCol>
                <a:gridCol w="4614377">
                  <a:extLst>
                    <a:ext uri="{9D8B030D-6E8A-4147-A177-3AD203B41FA5}">
                      <a16:colId xmlns:a16="http://schemas.microsoft.com/office/drawing/2014/main" val="652878539"/>
                    </a:ext>
                  </a:extLst>
                </a:gridCol>
              </a:tblGrid>
              <a:tr h="290974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0070C0"/>
                          </a:solidFill>
                        </a:rPr>
                        <a:t>S.No.</a:t>
                      </a:r>
                      <a:endParaRPr lang="en-IN" sz="1800">
                        <a:solidFill>
                          <a:srgbClr val="0070C0"/>
                        </a:solidFill>
                      </a:endParaRP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0070C0"/>
                          </a:solidFill>
                        </a:rPr>
                        <a:t>App Name</a:t>
                      </a:r>
                      <a:endParaRPr lang="en-IN" sz="1800">
                        <a:solidFill>
                          <a:srgbClr val="0070C0"/>
                        </a:solidFill>
                      </a:endParaRP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0070C0"/>
                          </a:solidFill>
                        </a:rPr>
                        <a:t>Category</a:t>
                      </a:r>
                      <a:endParaRPr lang="en-IN" sz="1800">
                        <a:solidFill>
                          <a:srgbClr val="0070C0"/>
                        </a:solidFill>
                      </a:endParaRP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Use/Purpose</a:t>
                      </a:r>
                      <a:endParaRPr lang="en-IN" sz="1800" dirty="0">
                        <a:solidFill>
                          <a:srgbClr val="0070C0"/>
                        </a:solidFill>
                      </a:endParaRP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053545"/>
                  </a:ext>
                </a:extLst>
              </a:tr>
              <a:tr h="502065">
                <a:tc>
                  <a:txBody>
                    <a:bodyPr/>
                    <a:lstStyle/>
                    <a:p>
                      <a:r>
                        <a:rPr lang="en-IN" sz="1600"/>
                        <a:t>1️⃣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UMANG</a:t>
                      </a:r>
                      <a:endParaRPr lang="en-IN" sz="1600" dirty="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Government Services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Provides access to 100+ government services like PAN, Passport, EPFO, etc.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065904"/>
                  </a:ext>
                </a:extLst>
              </a:tr>
              <a:tr h="540683">
                <a:tc>
                  <a:txBody>
                    <a:bodyPr/>
                    <a:lstStyle/>
                    <a:p>
                      <a:r>
                        <a:rPr lang="en-IN" sz="1600"/>
                        <a:t>2️⃣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DigiLocker</a:t>
                      </a:r>
                      <a:endParaRPr lang="en-IN" sz="16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Document Storage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Allows users to store and access digital documents like Aadhaar, DL, Marksheets.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399743"/>
                  </a:ext>
                </a:extLst>
              </a:tr>
              <a:tr h="518535">
                <a:tc>
                  <a:txBody>
                    <a:bodyPr/>
                    <a:lstStyle/>
                    <a:p>
                      <a:r>
                        <a:rPr lang="en-IN" sz="1600"/>
                        <a:t>3️⃣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BHIM UPI</a:t>
                      </a:r>
                      <a:endParaRPr lang="en-IN" sz="16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Digital Payments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For instant UPI-based money transfer between banks using mobile number or QR.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349541"/>
                  </a:ext>
                </a:extLst>
              </a:tr>
              <a:tr h="565835">
                <a:tc>
                  <a:txBody>
                    <a:bodyPr/>
                    <a:lstStyle/>
                    <a:p>
                      <a:r>
                        <a:rPr lang="en-IN" sz="1600"/>
                        <a:t>4️⃣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Aarogya Setu</a:t>
                      </a:r>
                      <a:endParaRPr lang="en-IN" sz="16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Health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COVID-19 contact tracing and health updates from the Government of India.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966343"/>
                  </a:ext>
                </a:extLst>
              </a:tr>
              <a:tr h="595773">
                <a:tc>
                  <a:txBody>
                    <a:bodyPr/>
                    <a:lstStyle/>
                    <a:p>
                      <a:r>
                        <a:rPr lang="en-IN" sz="1600"/>
                        <a:t>5️⃣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mAadhaar</a:t>
                      </a:r>
                      <a:endParaRPr lang="en-IN" sz="1600" dirty="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Identity Services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 and manage Aadhaar card information on your mobile.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219176"/>
                  </a:ext>
                </a:extLst>
              </a:tr>
              <a:tr h="547581">
                <a:tc>
                  <a:txBody>
                    <a:bodyPr/>
                    <a:lstStyle/>
                    <a:p>
                      <a:r>
                        <a:rPr lang="en-IN" sz="1600"/>
                        <a:t>6️⃣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MyGov</a:t>
                      </a:r>
                      <a:endParaRPr lang="en-IN" sz="16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Citizen Engagement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Platform for citizens to participate in governance and provide feedback.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683823"/>
                  </a:ext>
                </a:extLst>
              </a:tr>
              <a:tr h="499610">
                <a:tc>
                  <a:txBody>
                    <a:bodyPr/>
                    <a:lstStyle/>
                    <a:p>
                      <a:r>
                        <a:rPr lang="en-IN" sz="1600"/>
                        <a:t>7️⃣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mParivahan</a:t>
                      </a:r>
                      <a:endParaRPr lang="en-IN" sz="16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Transport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View vehicle registration, DL details, challan info from RTO database.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559926"/>
                  </a:ext>
                </a:extLst>
              </a:tr>
              <a:tr h="650863">
                <a:tc>
                  <a:txBody>
                    <a:bodyPr/>
                    <a:lstStyle/>
                    <a:p>
                      <a:r>
                        <a:rPr lang="en-IN" sz="1600"/>
                        <a:t>8️⃣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Swachhata App</a:t>
                      </a:r>
                      <a:endParaRPr lang="en-IN" sz="16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Civic Utilities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Citizens can report garbage or sanitation-related complaints to local authorities.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350427"/>
                  </a:ext>
                </a:extLst>
              </a:tr>
              <a:tr h="721148">
                <a:tc>
                  <a:txBody>
                    <a:bodyPr/>
                    <a:lstStyle/>
                    <a:p>
                      <a:r>
                        <a:rPr lang="en-IN" sz="1600" dirty="0"/>
                        <a:t>9️⃣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CSC App</a:t>
                      </a:r>
                      <a:endParaRPr lang="en-IN" sz="1600" dirty="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e-Governance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Common Service Center app for CSC operators to manage services like eKYC, PMGDISHA, etc.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344835"/>
                  </a:ext>
                </a:extLst>
              </a:tr>
              <a:tr h="736913">
                <a:tc>
                  <a:txBody>
                    <a:bodyPr/>
                    <a:lstStyle/>
                    <a:p>
                      <a:r>
                        <a:rPr lang="en-IN" sz="1600" dirty="0"/>
                        <a:t>🔟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E-pathshala</a:t>
                      </a:r>
                      <a:endParaRPr lang="en-IN" sz="16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Education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Provides free NCERT textbooks, videos, and educational content for students.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433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6782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515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What is Software?</vt:lpstr>
      <vt:lpstr>PowerPoint Presentation</vt:lpstr>
      <vt:lpstr>Utility Software </vt:lpstr>
      <vt:lpstr>What are Mobile Apps?</vt:lpstr>
      <vt:lpstr>Based on Technology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3</cp:revision>
  <cp:lastPrinted>2026-06-25T04:51:30Z</cp:lastPrinted>
  <dcterms:created xsi:type="dcterms:W3CDTF">2025-06-30T02:43:30Z</dcterms:created>
  <dcterms:modified xsi:type="dcterms:W3CDTF">2026-06-25T04:51:33Z</dcterms:modified>
</cp:coreProperties>
</file>